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3336" y="-1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" y="10912"/>
            <a:ext cx="30266640" cy="42793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66640" cy="2653223"/>
          </a:xfrm>
          <a:prstGeom prst="rect">
            <a:avLst/>
          </a:prstGeom>
          <a:solidFill>
            <a:srgbClr val="3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6666" y="213969"/>
            <a:ext cx="29116506" cy="1842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800" b="1" dirty="0">
                <a:solidFill>
                  <a:srgbClr val="FFFFFF"/>
                </a:solidFill>
              </a:rPr>
              <a:t>Influence de la </a:t>
            </a:r>
            <a:r>
              <a:rPr sz="4800" b="1" dirty="0" err="1">
                <a:solidFill>
                  <a:srgbClr val="FFFFFF"/>
                </a:solidFill>
              </a:rPr>
              <a:t>complexité</a:t>
            </a:r>
            <a:r>
              <a:rPr sz="4800" b="1" dirty="0">
                <a:solidFill>
                  <a:srgbClr val="FFFFFF"/>
                </a:solidFill>
              </a:rPr>
              <a:t> de </a:t>
            </a:r>
            <a:r>
              <a:rPr sz="4800" b="1" dirty="0" err="1">
                <a:solidFill>
                  <a:srgbClr val="FFFFFF"/>
                </a:solidFill>
              </a:rPr>
              <a:t>l'environnement</a:t>
            </a:r>
            <a:r>
              <a:rPr lang="fr-FR" sz="4800" b="1" dirty="0">
                <a:solidFill>
                  <a:srgbClr val="FFFFFF"/>
                </a:solidFill>
              </a:rPr>
              <a:t> sur l'évolution morphologique d'une créature virtuelle</a:t>
            </a:r>
          </a:p>
          <a:p>
            <a:pPr algn="ctr">
              <a:lnSpc>
                <a:spcPct val="130000"/>
              </a:lnSpc>
            </a:pP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6843" y="1978564"/>
            <a:ext cx="19673316" cy="404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 dirty="0">
                <a:solidFill>
                  <a:srgbClr val="FFFFFF"/>
                </a:solidFill>
                <a:latin typeface="Calibri"/>
              </a:rPr>
              <a:t>BEHRA Matthis A4 FISE INFO 2024 /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199" y="2995574"/>
            <a:ext cx="29540240" cy="2482047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5240">
            <a:solidFill>
              <a:srgbClr val="E0B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4532" y="3146907"/>
            <a:ext cx="29237574" cy="855878"/>
          </a:xfrm>
          <a:prstGeom prst="rect">
            <a:avLst/>
          </a:prstGeom>
          <a:solidFill>
            <a:srgbClr val="B5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98" y="3354176"/>
            <a:ext cx="29237574" cy="4413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fr-FR" sz="2400" b="1" i="0" dirty="0">
                <a:solidFill>
                  <a:srgbClr val="FFFFFF"/>
                </a:solidFill>
                <a:latin typeface="Calibri"/>
              </a:rPr>
              <a:t>EN BREF : pour qui découvre le sujet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98" y="4304976"/>
            <a:ext cx="28813842" cy="616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1F2C33"/>
                </a:solidFill>
                <a:latin typeface="Calibri"/>
              </a:rPr>
              <a:t>Les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êtres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vivants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ont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qu'ils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ont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parce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qu'ils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ont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dû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s'adapter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à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leur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milieu. Cette étude pose la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même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question dans un monde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virtuel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: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si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on laisse un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programme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«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inventer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» la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d'une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petite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créature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pour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lui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apprendre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à se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déplacer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l'environnement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(terrain plat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ou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accidenté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) influence-t-il la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finale ?</a:t>
            </a:r>
          </a:p>
          <a:p>
            <a:pPr algn="l">
              <a:lnSpc>
                <a:spcPct val="140000"/>
              </a:lnSpc>
            </a:pPr>
            <a:r>
              <a:rPr sz="1500" b="0" i="0" dirty="0" err="1">
                <a:solidFill>
                  <a:srgbClr val="1F2C33"/>
                </a:solidFill>
                <a:latin typeface="Calibri"/>
              </a:rPr>
              <a:t>Méthode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:  on ne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dessine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PAS les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créatures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à la main. On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utilise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un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algorithme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génétique</a:t>
            </a:r>
            <a:r>
              <a:rPr lang="fr-FR" sz="1500" b="0" i="0" dirty="0">
                <a:solidFill>
                  <a:srgbClr val="1F2C33"/>
                </a:solidFill>
                <a:latin typeface="Calibri"/>
              </a:rPr>
              <a:t> et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population de 100 corps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virtuels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qui se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reproduisent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mutent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et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sont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sélectionnés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sur 1000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générations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comme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évolution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darwinienne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F2C33"/>
                </a:solidFill>
                <a:latin typeface="Calibri"/>
              </a:rPr>
              <a:t>accélérée</a:t>
            </a:r>
            <a:r>
              <a:rPr sz="1500" b="0" i="0" dirty="0">
                <a:solidFill>
                  <a:srgbClr val="1F2C33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199" y="5991148"/>
            <a:ext cx="9604613" cy="6847027"/>
          </a:xfrm>
          <a:prstGeom prst="roundRect">
            <a:avLst>
              <a:gd name="adj" fmla="val 4000"/>
            </a:avLst>
          </a:prstGeom>
          <a:solidFill>
            <a:srgbClr val="EAF3F7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4532" y="6142481"/>
            <a:ext cx="9301947" cy="855878"/>
          </a:xfrm>
          <a:prstGeom prst="rect">
            <a:avLst/>
          </a:prstGeom>
          <a:solidFill>
            <a:srgbClr val="C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98" y="6350969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1 ▸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Problématique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&amp;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contexte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scientifique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6398" y="7212328"/>
            <a:ext cx="8878215" cy="5005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En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biologie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on observe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du corps d'un animal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: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nageoires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</a:t>
            </a:r>
          </a:p>
          <a:p>
            <a:pPr algn="l">
              <a:lnSpc>
                <a:spcPct val="140000"/>
              </a:lnSpc>
            </a:pPr>
            <a:r>
              <a:rPr b="0" i="0" dirty="0" err="1">
                <a:solidFill>
                  <a:srgbClr val="1F2C33"/>
                </a:solidFill>
                <a:latin typeface="Calibri"/>
              </a:rPr>
              <a:t>pattes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longues, carapace est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largement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«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dictée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» par le milieu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où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il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vit. On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peut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tester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cette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idée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simulation, sans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biologie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réelle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Question de recherche :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▶ Si on laisse un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algorithme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génétique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«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inventer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»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morphologie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d'une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créature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virtuelle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complexité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 son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environnement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influence-t-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elle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finale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qu'elle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va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adopter ?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 err="1">
                <a:solidFill>
                  <a:srgbClr val="1F2C33"/>
                </a:solidFill>
                <a:latin typeface="Calibri"/>
              </a:rPr>
              <a:t>Référence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pivot : Auerbach &amp; Bongard (GECCO 2012)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montrent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oui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sur des robots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simulés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 Notre travail le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reproduit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indépendamment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sur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un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protocole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strict : 4 études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primaires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retenues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par revue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systématique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(Kitchenham &amp; Charters, 2007),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puis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20 simulations comparatives.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199" y="13351703"/>
            <a:ext cx="9604613" cy="13266115"/>
          </a:xfrm>
          <a:prstGeom prst="roundRect">
            <a:avLst>
              <a:gd name="adj" fmla="val 4000"/>
            </a:avLst>
          </a:prstGeom>
          <a:solidFill>
            <a:srgbClr val="EAF3F7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4532" y="13503036"/>
            <a:ext cx="9301947" cy="855878"/>
          </a:xfrm>
          <a:prstGeom prst="rect">
            <a:avLst/>
          </a:prstGeom>
          <a:solidFill>
            <a:srgbClr val="3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98" y="13711524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2 ▸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L'algorithme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génétique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5 étapes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398" y="14572883"/>
            <a:ext cx="8878215" cy="9658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Un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algorithme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génétique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imite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l'évolution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naturelle. À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: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① ÉVALUATION 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créature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tente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 se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déplacer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pendant 15 s.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Sa note (fitness)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mesure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la distance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parcourue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moins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l'énergie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dépensée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moins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pénalité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complexité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(0,5 ×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n_segments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② SÉLECTION 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les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meilleures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ont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plus de chances d'être « parents ».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Tournoi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à 3 +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élitisme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(les 2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meilleures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passent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intactes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).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Niching : les corps trop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similaires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sont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pénalisés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diversité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③ CROISEMENT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scalaire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d'un nouveau corps est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tiré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chez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l'un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des deux parents. Les sous-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arbres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trop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sont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gardés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p=0,5.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④ MUTATION SCALAIRE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paramètre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est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légèrement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perturbé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(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gaussienne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 :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largeur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vitesse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moteur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friction…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⑤ MUTATION STRUCTURELLE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1×/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individu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/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: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ajout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d'un segment (12 %),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retrait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(5 %), plafond à 12 segments.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C'est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cette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étape qui fait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émerger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complexité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morphologique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GÉNOME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créature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= un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arbre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 segments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rigides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reliés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par des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articulations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motorisées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Paramètres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par segment : taille, angle,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vitesse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de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moteur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friction,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amortissement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 Pas de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cerveau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pas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d'apprentissage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lang="fr-FR" b="0" i="0" dirty="0">
                <a:solidFill>
                  <a:srgbClr val="1F2C33"/>
                </a:solidFill>
                <a:latin typeface="Calibri"/>
              </a:rPr>
              <a:t>-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le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moteur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suit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simple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sinusoïde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universelle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ω =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motor_speed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× sin(t·10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+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motor_phase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). Toute la «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stratégie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» est dans la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199" y="27131345"/>
            <a:ext cx="9604613" cy="5563209"/>
          </a:xfrm>
          <a:prstGeom prst="roundRect">
            <a:avLst>
              <a:gd name="adj" fmla="val 4000"/>
            </a:avLst>
          </a:prstGeom>
          <a:solidFill>
            <a:srgbClr val="EAF3F7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4532" y="27282678"/>
            <a:ext cx="9301947" cy="855878"/>
          </a:xfrm>
          <a:prstGeom prst="rect">
            <a:avLst/>
          </a:prstGeom>
          <a:solidFill>
            <a:srgbClr val="D18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98" y="27491166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3 ▸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Protocole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2400" b="1" i="0" dirty="0">
                <a:solidFill>
                  <a:srgbClr val="FFFFFF"/>
                </a:solidFill>
                <a:latin typeface="Calibri"/>
              </a:rPr>
              <a:t>: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un test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équitable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6398" y="28352525"/>
            <a:ext cx="8878215" cy="3454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On lance K = 20 simulations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indépendantes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 Pour CHAQUE simulation, on</a:t>
            </a:r>
          </a:p>
          <a:p>
            <a:pPr algn="l">
              <a:lnSpc>
                <a:spcPct val="140000"/>
              </a:lnSpc>
            </a:pPr>
            <a:r>
              <a:rPr b="0" i="0" dirty="0" err="1">
                <a:solidFill>
                  <a:srgbClr val="1F2C33"/>
                </a:solidFill>
                <a:latin typeface="Calibri"/>
              </a:rPr>
              <a:t>duplique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la population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initiale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et on la fait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évoluer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parallèle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dans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deux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environnements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différents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(A et B). Toute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différence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finale est</a:t>
            </a:r>
          </a:p>
          <a:p>
            <a:pPr algn="l">
              <a:lnSpc>
                <a:spcPct val="140000"/>
              </a:lnSpc>
            </a:pPr>
            <a:r>
              <a:rPr b="0" i="0" dirty="0" err="1">
                <a:solidFill>
                  <a:srgbClr val="1F2C33"/>
                </a:solidFill>
                <a:latin typeface="Calibri"/>
              </a:rPr>
              <a:t>donc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imputable à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l'environnement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, pas au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hasard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de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l'initialisation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• A — Plaine ouverte (sol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uniforme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• B — Terrain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accidenté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(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pentes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±25°, zones molles)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• 100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individus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× 1000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générations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× 2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envs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× 20 runs = 4 M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évaluations</a:t>
            </a:r>
            <a:endParaRPr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1F2C33"/>
                </a:solidFill>
                <a:latin typeface="Calibri"/>
              </a:rPr>
              <a:t>  • Temps de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calcul</a:t>
            </a:r>
            <a:r>
              <a:rPr b="0" i="0" dirty="0">
                <a:solidFill>
                  <a:srgbClr val="1F2C33"/>
                </a:solidFill>
                <a:latin typeface="Calibri"/>
              </a:rPr>
              <a:t> : 10 h, 8 workers </a:t>
            </a:r>
            <a:r>
              <a:rPr b="0" i="0" dirty="0" err="1">
                <a:solidFill>
                  <a:srgbClr val="1F2C33"/>
                </a:solidFill>
                <a:latin typeface="Calibri"/>
              </a:rPr>
              <a:t>parallèles</a:t>
            </a:r>
            <a:r>
              <a:rPr lang="fr-FR" dirty="0">
                <a:solidFill>
                  <a:srgbClr val="1F2C33"/>
                </a:solidFill>
                <a:latin typeface="Calibri"/>
              </a:rPr>
              <a:t> sur CPU.</a:t>
            </a:r>
            <a:endParaRPr b="0" i="0" dirty="0">
              <a:solidFill>
                <a:srgbClr val="1F2C33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3199" y="33208081"/>
            <a:ext cx="9604613" cy="7146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14532" y="33359414"/>
            <a:ext cx="9301947" cy="855878"/>
          </a:xfrm>
          <a:prstGeom prst="rect">
            <a:avLst/>
          </a:prstGeom>
          <a:solidFill>
            <a:srgbClr val="3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98" y="33567902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4 ▸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Apprentissage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2400" b="1" i="0" dirty="0">
                <a:solidFill>
                  <a:srgbClr val="FFFFFF"/>
                </a:solidFill>
                <a:latin typeface="Calibri"/>
              </a:rPr>
              <a:t>: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la fitness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progresse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-t-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elle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?</a:t>
            </a:r>
          </a:p>
        </p:txBody>
      </p:sp>
      <p:pic>
        <p:nvPicPr>
          <p:cNvPr id="29" name="Picture 28" descr="fitness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93" y="34643231"/>
            <a:ext cx="7772225" cy="382850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6398" y="38736320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ligne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moyenne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sur 20 runs,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bande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±1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écart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-type. Plus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courbe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monte,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mieux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la population se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déplace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 Les deux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environnements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progressent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mais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l'écart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se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creuse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à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partir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de la gen ~200.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398" y="39559612"/>
            <a:ext cx="8878215" cy="2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 dirty="0">
                <a:solidFill>
                  <a:srgbClr val="1F2C33"/>
                </a:solidFill>
                <a:latin typeface="Calibri"/>
              </a:rPr>
              <a:t>Fig. 1 </a:t>
            </a:r>
            <a:r>
              <a:rPr lang="fr-FR" sz="12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Fitness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moyenne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du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meilleur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individu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par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, 20 runs.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1013" y="5991148"/>
            <a:ext cx="9604613" cy="100565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482346" y="6142481"/>
            <a:ext cx="9301947" cy="855878"/>
          </a:xfrm>
          <a:prstGeom prst="rect">
            <a:avLst/>
          </a:prstGeom>
          <a:solidFill>
            <a:srgbClr val="C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03412" y="6350969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5 ▸ La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complexité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du corps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grandit-elle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?</a:t>
            </a:r>
          </a:p>
        </p:txBody>
      </p:sp>
      <p:pic>
        <p:nvPicPr>
          <p:cNvPr id="35" name="Picture 34" descr="segments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212" y="8608893"/>
            <a:ext cx="8878215" cy="43732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694212" y="14429374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toutes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les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créatures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démarrent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avec 2 segments. Plus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courbe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monte, plus les corps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deviennent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compliqués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courbe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orange (B, terrain)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finit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nettement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plus haut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bleue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(A,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plaine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4212" y="15252666"/>
            <a:ext cx="8878215" cy="2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 dirty="0">
                <a:solidFill>
                  <a:srgbClr val="1F2C33"/>
                </a:solidFill>
                <a:latin typeface="Calibri"/>
              </a:rPr>
              <a:t>Fig. 2 </a:t>
            </a:r>
            <a:r>
              <a:rPr lang="fr-FR" sz="12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Nombre moyen de segments dans la population par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1013" y="16561247"/>
            <a:ext cx="9604613" cy="148494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82346" y="16712580"/>
            <a:ext cx="9301947" cy="855878"/>
          </a:xfrm>
          <a:prstGeom prst="rect">
            <a:avLst/>
          </a:prstGeom>
          <a:solidFill>
            <a:srgbClr val="3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03412" y="16921068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6 ▸ À quoi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ressemblent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les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créatures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finales ?</a:t>
            </a:r>
          </a:p>
        </p:txBody>
      </p:sp>
      <p:pic>
        <p:nvPicPr>
          <p:cNvPr id="41" name="Picture 40" descr="morpho_pairs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412" y="18118754"/>
            <a:ext cx="8878215" cy="116754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603412" y="30114806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chaque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ligne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une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simulation, fond bleu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pâle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plaine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, fond crème = terrain.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Même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graine de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départ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pour A et B → toute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différence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vient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l'environnement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, pas du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hasard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4211" y="31066574"/>
            <a:ext cx="8878215" cy="2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 dirty="0">
                <a:solidFill>
                  <a:srgbClr val="1F2C33"/>
                </a:solidFill>
                <a:latin typeface="Calibri"/>
              </a:rPr>
              <a:t>Fig. 3 </a:t>
            </a:r>
            <a:r>
              <a:rPr lang="fr-FR" sz="12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Reconstruction des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meilleures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créatures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à la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dernière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1013" y="31950212"/>
            <a:ext cx="9604613" cy="84044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049F7CBC-0381-D426-24F0-9BB20CF9043F}"/>
              </a:ext>
            </a:extLst>
          </p:cNvPr>
          <p:cNvGrpSpPr/>
          <p:nvPr/>
        </p:nvGrpSpPr>
        <p:grpSpPr>
          <a:xfrm>
            <a:off x="10482346" y="32095439"/>
            <a:ext cx="9423013" cy="855878"/>
            <a:chOff x="10482346" y="35199553"/>
            <a:chExt cx="9423013" cy="855878"/>
          </a:xfrm>
        </p:grpSpPr>
        <p:sp>
          <p:nvSpPr>
            <p:cNvPr id="45" name="Rectangle 44"/>
            <p:cNvSpPr/>
            <p:nvPr/>
          </p:nvSpPr>
          <p:spPr>
            <a:xfrm>
              <a:off x="10482346" y="35199553"/>
              <a:ext cx="9301947" cy="855878"/>
            </a:xfrm>
            <a:prstGeom prst="rect">
              <a:avLst/>
            </a:prstGeom>
            <a:solidFill>
              <a:srgbClr val="D18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603412" y="35408041"/>
              <a:ext cx="9301947" cy="43890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7 ▸ Les morphologies des deux </a:t>
              </a:r>
              <a:r>
                <a:rPr sz="2400" b="1" i="0" dirty="0" err="1">
                  <a:solidFill>
                    <a:srgbClr val="FFFFFF"/>
                  </a:solidFill>
                  <a:latin typeface="Calibri"/>
                </a:rPr>
                <a:t>mondes</a:t>
              </a:r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 se </a:t>
              </a:r>
              <a:r>
                <a:rPr sz="2400" b="1" i="0" dirty="0" err="1">
                  <a:solidFill>
                    <a:srgbClr val="FFFFFF"/>
                  </a:solidFill>
                  <a:latin typeface="Calibri"/>
                </a:rPr>
                <a:t>ressemblent-elles</a:t>
              </a:r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 ?</a:t>
              </a:r>
            </a:p>
          </p:txBody>
        </p:sp>
      </p:grpSp>
      <p:pic>
        <p:nvPicPr>
          <p:cNvPr id="47" name="Picture 46" descr="distance_heatma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668" y="33967655"/>
            <a:ext cx="9383299" cy="345053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694212" y="38736321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on compare deux à deux les 20 corps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finaux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 À gauche : entre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eux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les corps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évolués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plaine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se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ressemblent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sombre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). À droite : un corps de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plaine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vs un corps de terrain → couleurs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claires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ils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sont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différents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4212" y="39578015"/>
            <a:ext cx="8878215" cy="183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 dirty="0">
                <a:solidFill>
                  <a:srgbClr val="1F2C33"/>
                </a:solidFill>
                <a:latin typeface="Calibri"/>
              </a:rPr>
              <a:t>Fig. 4 </a:t>
            </a:r>
            <a:r>
              <a:rPr lang="fr-FR" sz="10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Plus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c'est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sombre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, plus les corps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sont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semblables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. AA=0.54 · BB=0.63 · AB=0.60.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98826" y="5991148"/>
            <a:ext cx="9604613" cy="62265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0450159" y="6142481"/>
            <a:ext cx="9301947" cy="855878"/>
          </a:xfrm>
          <a:prstGeom prst="rect">
            <a:avLst/>
          </a:prstGeom>
          <a:solidFill>
            <a:srgbClr val="C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571225" y="6350969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8 ▸ Combien de segments à la fin ?</a:t>
            </a:r>
          </a:p>
        </p:txBody>
      </p:sp>
      <p:pic>
        <p:nvPicPr>
          <p:cNvPr id="53" name="Picture 52" descr="final_distribu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1759" y="7358180"/>
            <a:ext cx="8878215" cy="36295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571225" y="11146262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chaque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point = un run.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boîte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=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moitié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centrale des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résultats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médiane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B est plus haute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A →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moyenne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, B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fabrique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plus de segments.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1224" y="11767042"/>
            <a:ext cx="8878215" cy="2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 dirty="0">
                <a:solidFill>
                  <a:srgbClr val="1F2C33"/>
                </a:solidFill>
                <a:latin typeface="Calibri"/>
              </a:rPr>
              <a:t>Fig. 5 </a:t>
            </a:r>
            <a:r>
              <a:rPr lang="fr-FR" sz="12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Médianes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: segs A=9, B=11. Fitness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médiane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: A≈14810, B≈16868.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298826" y="12531181"/>
            <a:ext cx="9604613" cy="79890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450159" y="12682514"/>
            <a:ext cx="9301947" cy="855878"/>
          </a:xfrm>
          <a:prstGeom prst="rect">
            <a:avLst/>
          </a:prstGeom>
          <a:solidFill>
            <a:srgbClr val="3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0571225" y="12891002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9 ▸ Au-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delà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de la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forme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: les muscles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sont-ils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différents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?</a:t>
            </a:r>
          </a:p>
        </p:txBody>
      </p:sp>
      <p:pic>
        <p:nvPicPr>
          <p:cNvPr id="59" name="Picture 58" descr="param_specializ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30476" y="13795155"/>
            <a:ext cx="8359710" cy="566864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0631759" y="19507865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histogrammes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des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paramètres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«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moteur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» et « friction » sur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tous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les segments. Tirets =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moyennes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 Les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courbes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A et B ne se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superposent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pas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exactement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→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chaque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environnement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règle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ses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muscles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différemment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1223" y="20099825"/>
            <a:ext cx="8878215" cy="183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 dirty="0">
                <a:solidFill>
                  <a:srgbClr val="1F2C33"/>
                </a:solidFill>
                <a:latin typeface="Calibri"/>
              </a:rPr>
              <a:t>Fig. 6 </a:t>
            </a:r>
            <a:r>
              <a:rPr lang="fr-FR" sz="10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Distribution des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paramètres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physiques sur les segments des 20 </a:t>
            </a:r>
            <a:r>
              <a:rPr sz="1000" b="0" i="1" dirty="0" err="1">
                <a:solidFill>
                  <a:srgbClr val="1F2C33"/>
                </a:solidFill>
                <a:latin typeface="Calibri"/>
              </a:rPr>
              <a:t>meilleurs</a:t>
            </a:r>
            <a:r>
              <a:rPr sz="1000" b="0" i="1" dirty="0">
                <a:solidFill>
                  <a:srgbClr val="1F2C33"/>
                </a:solidFill>
                <a:latin typeface="Calibri"/>
              </a:rPr>
              <a:t> corps.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298826" y="20755081"/>
            <a:ext cx="9604613" cy="77029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0450159" y="20906414"/>
            <a:ext cx="9301947" cy="855878"/>
          </a:xfrm>
          <a:prstGeom prst="rect">
            <a:avLst/>
          </a:prstGeom>
          <a:solidFill>
            <a:srgbClr val="D18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0571225" y="21114902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10 ▸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Même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point de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départ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mêmes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corps ?</a:t>
            </a:r>
          </a:p>
        </p:txBody>
      </p:sp>
      <p:pic>
        <p:nvPicPr>
          <p:cNvPr id="65" name="Picture 64" descr="paired_scat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31759" y="22104643"/>
            <a:ext cx="8878215" cy="386316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20662025" y="26085128"/>
            <a:ext cx="8878215" cy="4122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445661"/>
                </a:solidFill>
                <a:latin typeface="Calibri"/>
              </a:rPr>
              <a:t>▶ Comment lire </a:t>
            </a:r>
            <a:r>
              <a:rPr lang="fr-FR" sz="1200" b="0" i="0" dirty="0">
                <a:solidFill>
                  <a:srgbClr val="445661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l'environnement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n'avait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aucun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effet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, les points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seraient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sur la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diagonale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(y = x).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Ils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ne le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sont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pas → le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même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point de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départ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donne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des corps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différents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45661"/>
                </a:solidFill>
                <a:latin typeface="Calibri"/>
              </a:rPr>
              <a:t>selon</a:t>
            </a:r>
            <a:r>
              <a:rPr sz="1200" b="0" i="0" dirty="0">
                <a:solidFill>
                  <a:srgbClr val="445661"/>
                </a:solidFill>
                <a:latin typeface="Calibri"/>
              </a:rPr>
              <a:t> le milieu.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662025" y="26643832"/>
            <a:ext cx="8878215" cy="2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 dirty="0">
                <a:solidFill>
                  <a:srgbClr val="1F2C33"/>
                </a:solidFill>
                <a:latin typeface="Calibri"/>
              </a:rPr>
              <a:t>Fig. 7 </a:t>
            </a:r>
            <a:r>
              <a:rPr lang="fr-FR" sz="1200" b="0" i="1" dirty="0">
                <a:solidFill>
                  <a:srgbClr val="1F2C33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Chaque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point =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paire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(A, B) issue de la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même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 graine </a:t>
            </a:r>
            <a:r>
              <a:rPr sz="1200" b="0" i="1" dirty="0" err="1">
                <a:solidFill>
                  <a:srgbClr val="1F2C33"/>
                </a:solidFill>
                <a:latin typeface="Calibri"/>
              </a:rPr>
              <a:t>initiale</a:t>
            </a:r>
            <a:r>
              <a:rPr sz="1200" b="0" i="1" dirty="0">
                <a:solidFill>
                  <a:srgbClr val="1F2C33"/>
                </a:solidFill>
                <a:latin typeface="Calibri"/>
              </a:rPr>
              <a:t>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298826" y="28723863"/>
            <a:ext cx="9604613" cy="11588008"/>
          </a:xfrm>
          <a:prstGeom prst="roundRect">
            <a:avLst>
              <a:gd name="adj" fmla="val 4000"/>
            </a:avLst>
          </a:prstGeom>
          <a:solidFill>
            <a:srgbClr val="EAF3F7"/>
          </a:solidFill>
          <a:ln w="15240">
            <a:solidFill>
              <a:srgbClr val="7FAE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0450159" y="28875196"/>
            <a:ext cx="9301947" cy="1064751"/>
          </a:xfrm>
          <a:prstGeom prst="rect">
            <a:avLst/>
          </a:prstGeom>
          <a:solidFill>
            <a:srgbClr val="C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0571225" y="29083685"/>
            <a:ext cx="9301947" cy="4389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11 ▸ Conclusion —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réponse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à la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problématique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0571222" y="30015416"/>
            <a:ext cx="8878215" cy="10301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fr-FR" sz="2000" dirty="0">
                <a:solidFill>
                  <a:srgbClr val="1F2C33"/>
                </a:solidFill>
                <a:latin typeface="Calibri"/>
              </a:rPr>
              <a:t>L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complexité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l'environnement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façonne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effectivement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la</a:t>
            </a:r>
          </a:p>
          <a:p>
            <a:pPr algn="l">
              <a:lnSpc>
                <a:spcPct val="140000"/>
              </a:lnSpc>
            </a:pPr>
            <a:r>
              <a:rPr sz="2000" b="0" i="0" dirty="0" err="1">
                <a:solidFill>
                  <a:srgbClr val="1F2C33"/>
                </a:solidFill>
                <a:latin typeface="Calibri"/>
              </a:rPr>
              <a:t>morphologie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de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créature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, et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à 4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niveaux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observés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simultanément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:</a:t>
            </a:r>
            <a:endParaRPr lang="fr-FR" sz="2000"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endParaRPr sz="2000" b="0" i="0" dirty="0">
              <a:solidFill>
                <a:srgbClr val="1F2C33"/>
              </a:solidFill>
              <a:latin typeface="Calibri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</a:t>
            </a:r>
            <a:r>
              <a:rPr sz="2000" b="1" i="0" dirty="0">
                <a:solidFill>
                  <a:srgbClr val="1F2C33"/>
                </a:solidFill>
                <a:latin typeface="Calibri"/>
              </a:rPr>
              <a:t>TOPOLOGIE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 (le corps a-t-il plus de segments ?)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B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sélectionne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11.5 segments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moyenne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contre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9.7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A.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L'écart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se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creuse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dès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génération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~200 (Fig. 2).</a:t>
            </a:r>
            <a:endParaRPr lang="fr-FR" sz="2000" b="0" i="0" dirty="0">
              <a:solidFill>
                <a:srgbClr val="1F2C33"/>
              </a:solidFill>
              <a:latin typeface="Calibri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 b="1" i="0" dirty="0">
                <a:solidFill>
                  <a:srgbClr val="1F2C33"/>
                </a:solidFill>
                <a:latin typeface="Calibri"/>
              </a:rPr>
              <a:t>STRUCTURE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 (les plans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corporels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diffèrent-ils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?)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Distance A ↔ B = 0.60 &gt; distance entre runs A = 0.54.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Visuellement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(Fig. 3) : A = corps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allongés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horizontaux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,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B = corps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verticaux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et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touffus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plusieurs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points d'appui.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</a:t>
            </a:r>
            <a:r>
              <a:rPr sz="2000" b="1" i="0" dirty="0">
                <a:solidFill>
                  <a:srgbClr val="1F2C33"/>
                </a:solidFill>
                <a:latin typeface="Calibri"/>
              </a:rPr>
              <a:t>PARAMÈTRES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 (les « muscles »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sont-ils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calibrés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autrement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?)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Plaine =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moteurs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rapides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+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adhérents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(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motor_speed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4,95 ;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friction 1,13). Terrain =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moteurs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lents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+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glissants</a:t>
            </a:r>
            <a:endParaRPr sz="2000"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(3,48 ; 0,82).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sélection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règle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mécanique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, pas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seulement</a:t>
            </a:r>
            <a:r>
              <a:rPr lang="fr-FR" sz="200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.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</a:t>
            </a:r>
            <a:r>
              <a:rPr sz="2000" b="1" i="0" dirty="0">
                <a:solidFill>
                  <a:srgbClr val="1F2C33"/>
                </a:solidFill>
                <a:latin typeface="Calibri"/>
              </a:rPr>
              <a:t>ÉVOLUTION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 (la pression du milieu domine-t-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elle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l'héritage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?)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Corrélation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morpho A ↔ B entre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paires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partageant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même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graine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  ≈ 0 (Fig. 7) : la graine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initiale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n'a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pas de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pouvoir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prédictif</a:t>
            </a:r>
            <a:r>
              <a:rPr lang="fr-FR" sz="2000" dirty="0">
                <a:solidFill>
                  <a:srgbClr val="1F2C33"/>
                </a:solidFill>
                <a:latin typeface="Calibri"/>
              </a:rPr>
              <a:t>,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le milieu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décide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.</a:t>
            </a:r>
            <a:endParaRPr lang="fr-FR" sz="2000"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endParaRPr sz="2000"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1" i="0" dirty="0">
                <a:solidFill>
                  <a:srgbClr val="1F2C33"/>
                </a:solidFill>
                <a:latin typeface="Calibri"/>
              </a:rPr>
              <a:t>→ INTERPRÉTATION POUR LE GRAND PUBLIC :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on observe in silico le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même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phénomène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que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sélection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naturelle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biologie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. Un milieu plus dur ne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fabrique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pas un seul « bon »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corps, il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pousse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vers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famille de corps plus complexes et</a:t>
            </a: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plus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variés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. La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forme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est bien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dictée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au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moins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partiellement</a:t>
            </a:r>
            <a:endParaRPr sz="2000" b="0" i="0" dirty="0">
              <a:solidFill>
                <a:srgbClr val="1F2C33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F2C33"/>
                </a:solidFill>
                <a:latin typeface="Calibri"/>
              </a:rPr>
              <a:t>    par les </a:t>
            </a:r>
            <a:r>
              <a:rPr sz="2000" b="0" i="0" dirty="0" err="1">
                <a:solidFill>
                  <a:srgbClr val="1F2C33"/>
                </a:solidFill>
                <a:latin typeface="Calibri"/>
              </a:rPr>
              <a:t>contraintes</a:t>
            </a:r>
            <a:r>
              <a:rPr sz="2000" b="0" i="0" dirty="0">
                <a:solidFill>
                  <a:srgbClr val="1F2C33"/>
                </a:solidFill>
                <a:latin typeface="Calibri"/>
              </a:rPr>
              <a:t> du milieu.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0868193"/>
            <a:ext cx="30266640" cy="1925726"/>
          </a:xfrm>
          <a:prstGeom prst="rect">
            <a:avLst/>
          </a:prstGeom>
          <a:solidFill>
            <a:srgbClr val="2C5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6666" y="41124956"/>
            <a:ext cx="25726644" cy="684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Références principales :  Auerbach &amp; Bongard (GECCO 2012)  ·  Funes &amp; Pollack (Artificial Life 1998)  ·  Moore &amp; McKinley (GECCO 2012)  ·  Nordmoen et al. (Frontiers in Robotics and AI 2021)  ·  Sims (SIGGRAPH 1994)  ·  Kitchenham &amp; Charters (EBSE 2007)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6666" y="41980834"/>
            <a:ext cx="25726644" cy="684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 dirty="0" err="1">
                <a:solidFill>
                  <a:srgbClr val="FFFFFF"/>
                </a:solidFill>
                <a:latin typeface="Calibri"/>
              </a:rPr>
              <a:t>Outils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:  Python ·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Pymunk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(physique 2D) · Matplotlib · NumPy   ·   Session multi-run : 2026-04-21 · 20 runs × 1000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générations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× 100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individus</a:t>
            </a:r>
            <a:endParaRPr sz="15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0036514" y="41131496"/>
            <a:ext cx="9836658" cy="770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700" b="1" i="0" dirty="0">
                <a:solidFill>
                  <a:srgbClr val="FFFFFF"/>
                </a:solidFill>
                <a:latin typeface="Calibri"/>
              </a:rPr>
              <a:t>BEHRA Matthis  ·  A4 FISE INFO 2024 /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1490</Words>
  <Application>Microsoft Office PowerPoint</Application>
  <PresentationFormat>Personnalisé</PresentationFormat>
  <Paragraphs>104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BEHRA MATTHIS</cp:lastModifiedBy>
  <cp:revision>3</cp:revision>
  <dcterms:created xsi:type="dcterms:W3CDTF">2013-01-27T09:14:16Z</dcterms:created>
  <dcterms:modified xsi:type="dcterms:W3CDTF">2026-04-26T20:03:40Z</dcterms:modified>
  <cp:category/>
</cp:coreProperties>
</file>